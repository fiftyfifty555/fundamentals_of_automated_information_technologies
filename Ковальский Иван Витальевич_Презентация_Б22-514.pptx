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86" r:id="rId7"/>
    <p:sldId id="258" r:id="rId8"/>
    <p:sldId id="261" r:id="rId9"/>
    <p:sldId id="287" r:id="rId10"/>
    <p:sldId id="262" r:id="rId11"/>
    <p:sldId id="283" r:id="rId12"/>
    <p:sldId id="264" r:id="rId13"/>
    <p:sldId id="266" r:id="rId14"/>
    <p:sldId id="284" r:id="rId15"/>
    <p:sldId id="288" r:id="rId16"/>
    <p:sldId id="289" r:id="rId17"/>
    <p:sldId id="290" r:id="rId18"/>
    <p:sldId id="291" r:id="rId19"/>
    <p:sldId id="269" r:id="rId2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2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56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C963BE-E818-41F7-9555-4F4B742E98AE}" type="datetime1">
              <a:rPr lang="ru-RU" smtClean="0"/>
              <a:t>04.06.2025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735222-6EEA-46CD-B936-E9E9D4B85411}" type="datetime1">
              <a:rPr lang="ru-RU" noProof="0" smtClean="0"/>
              <a:t>04.06.2025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578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121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259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446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271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706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461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18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Полилиния: фигура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6" name="Полилиния: фигура 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7" name="Прямоугольный треугольник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8" name="Прямоугольный треугольник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9" name="Прямоугольный треугольник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  <p:sp>
          <p:nvSpPr>
            <p:cNvPr id="9" name="Полилиния: Фигура 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0" name="Полилиния: Фигура 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1" name="Полилиния: Фигура 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Полилиния: Фигура 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4" name="Полилиния: Фигура 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 smtClean="0"/>
              <a:t>Образец подзаголовка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рямоугольный треугольник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4" name="Полилиния: Фигура 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олилиния: Фигура 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Полилиния: Фигура 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 smtClean="0"/>
              <a:t>Образец текста</a:t>
            </a:r>
          </a:p>
        </p:txBody>
      </p:sp>
      <p:sp>
        <p:nvSpPr>
          <p:cNvPr id="22" name="Номер слайда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Дополнительный 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Полилиния: Фигура 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8" name="Полилиния: Фигура 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29" name="Полилиния: Фигура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Полилиния: Фигура 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3" name="Полилиния: Фигура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 smtClean="0"/>
              <a:t>Образец текста</a:t>
            </a:r>
          </a:p>
        </p:txBody>
      </p:sp>
      <p:sp>
        <p:nvSpPr>
          <p:cNvPr id="35" name="Номер слайда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цита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ru-RU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"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Цитата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3" name="Текст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6" name="Текст 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7" name="Объект 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28" name="Объект 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типа содержимого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21" name="Объект 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тегория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0" name="Рисунок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1" name="Рисунок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2" name="Рисунок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3" name="Рисунок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4" name="Рисунок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и раздел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я и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smtClean="0"/>
              <a:t>Образец заголовка</a:t>
            </a:r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Полилиния: фигура 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1" name="Полилиния: фигура 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Полилиния: Фигура 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Полилиния: Фигура 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6" name="Полилиния: Фигура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0" name="Полилиния: Фигура 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1" name="Номер слайда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Прямоугольный треугольник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рямоугольный треугольник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9" name="Прямоугольный треугольник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2" name="Полилиния: Фигура 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 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7" name="Полилиния: Фигура 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>
                <a:latin typeface="+mj-lt"/>
              </a:rPr>
              <a:t>Образец заголовка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Полилиния: Фигура 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Полилиния: Фигура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Прямоугольник: Усеченный угол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17" name="Прямоугольник: Усеченный угол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8" name="Полилиния: Фигура 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8112" y="1194816"/>
            <a:ext cx="9125712" cy="3639312"/>
          </a:xfrm>
        </p:spPr>
        <p:txBody>
          <a:bodyPr rtlCol="0"/>
          <a:lstStyle/>
          <a:p>
            <a:pPr algn="ctr"/>
            <a:r>
              <a:rPr lang="ru-RU" dirty="0" smtClean="0"/>
              <a:t>База данных образовательной онлайн-платформы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224841" y="6395966"/>
            <a:ext cx="2967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FFFF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Ковальский Иван Б22-514</a:t>
            </a:r>
            <a:endParaRPr lang="ru-RU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1080"/>
            <a:ext cx="7781544" cy="859055"/>
          </a:xfrm>
        </p:spPr>
        <p:txBody>
          <a:bodyPr rtlCol="0"/>
          <a:lstStyle/>
          <a:p>
            <a:pPr rtl="0"/>
            <a:r>
              <a:rPr lang="ru-RU" dirty="0" smtClean="0"/>
              <a:t>Постановка задачи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" y="1981200"/>
            <a:ext cx="8583168" cy="3895344"/>
          </a:xfrm>
        </p:spPr>
        <p:txBody>
          <a:bodyPr rtlCol="0">
            <a:noAutofit/>
          </a:bodyPr>
          <a:lstStyle/>
          <a:p>
            <a:pPr>
              <a:lnSpc>
                <a:spcPct val="150000"/>
              </a:lnSpc>
            </a:pPr>
            <a:r>
              <a:rPr lang="ru-RU" sz="1800" b="1" dirty="0" smtClean="0"/>
              <a:t>	</a:t>
            </a:r>
            <a:r>
              <a:rPr lang="ru-RU" sz="1800" b="1" dirty="0" smtClean="0">
                <a:cs typeface="Times New Roman" panose="02020603050405020304" pitchFamily="18" charset="0"/>
              </a:rPr>
              <a:t>Спроектировать </a:t>
            </a:r>
            <a:r>
              <a:rPr lang="ru-RU" sz="1800" b="1" dirty="0">
                <a:cs typeface="Times New Roman" panose="02020603050405020304" pitchFamily="18" charset="0"/>
              </a:rPr>
              <a:t>базу данных для образовательной </a:t>
            </a:r>
            <a:r>
              <a:rPr lang="ru-RU" sz="1800" b="1" dirty="0" smtClean="0">
                <a:cs typeface="Times New Roman" panose="02020603050405020304" pitchFamily="18" charset="0"/>
              </a:rPr>
              <a:t>онлайн-платформы, </a:t>
            </a:r>
            <a:r>
              <a:rPr lang="ru-RU" sz="1800" b="1" dirty="0">
                <a:cs typeface="Times New Roman" panose="02020603050405020304" pitchFamily="18" charset="0"/>
              </a:rPr>
              <a:t>поддерживающей полный цикл взаимодействия пользователей с учебными материалами: регистрацию, прохождение курсов, получение оценок, использование </a:t>
            </a:r>
            <a:r>
              <a:rPr lang="ru-RU" sz="1800" b="1" dirty="0" err="1">
                <a:cs typeface="Times New Roman" panose="02020603050405020304" pitchFamily="18" charset="0"/>
              </a:rPr>
              <a:t>промокодов</a:t>
            </a:r>
            <a:r>
              <a:rPr lang="ru-RU" sz="1800" b="1" dirty="0">
                <a:cs typeface="Times New Roman" panose="02020603050405020304" pitchFamily="18" charset="0"/>
              </a:rPr>
              <a:t>, достижение целей, комментирование уроков и оплату образовательных продуктов.</a:t>
            </a:r>
            <a:endParaRPr lang="ru-RU" sz="1800" dirty="0"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ru-RU" noProof="0" smtClean="0"/>
              <a:pPr rtl="0"/>
              <a:t>3</a:t>
            </a:fld>
            <a:endParaRPr lang="ru-RU" noProof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380" y="1093342"/>
            <a:ext cx="4897239" cy="4338194"/>
          </a:xfrm>
          <a:prstGeom prst="rect">
            <a:avLst/>
          </a:prstGeom>
        </p:spPr>
      </p:pic>
      <p:sp>
        <p:nvSpPr>
          <p:cNvPr id="6" name="Заголовок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9055"/>
          </a:xfrm>
        </p:spPr>
        <p:txBody>
          <a:bodyPr rtlCol="0"/>
          <a:lstStyle/>
          <a:p>
            <a:pPr algn="ctr" rtl="0"/>
            <a:r>
              <a:rPr lang="ru-RU" dirty="0" smtClean="0"/>
              <a:t>Актуальность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229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4</a:t>
            </a:fld>
            <a:endParaRPr lang="ru-RU"/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5905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400" dirty="0" smtClean="0"/>
              <a:t>Анализ области</a:t>
            </a:r>
            <a:endParaRPr lang="ru-RU" sz="5400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701040"/>
            <a:ext cx="7528560" cy="231648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>
              <a:lnSpc>
                <a:spcPct val="170000"/>
              </a:lnSpc>
            </a:pPr>
            <a:r>
              <a:rPr lang="ru-RU" sz="1400" b="1" dirty="0">
                <a:solidFill>
                  <a:schemeClr val="bg1"/>
                </a:solidFill>
              </a:rPr>
              <a:t>Огромный масштаб рынка:</a:t>
            </a:r>
            <a:r>
              <a:rPr lang="ru-RU" sz="1400" dirty="0">
                <a:solidFill>
                  <a:schemeClr val="bg1"/>
                </a:solidFill>
              </a:rPr>
              <a:t> Тысячи упоминаний </a:t>
            </a:r>
            <a:r>
              <a:rPr lang="ru-RU" sz="1400" dirty="0" smtClean="0">
                <a:solidFill>
                  <a:schemeClr val="bg1"/>
                </a:solidFill>
              </a:rPr>
              <a:t>лидеров</a:t>
            </a:r>
            <a:r>
              <a:rPr lang="en-US" sz="1400" dirty="0" smtClean="0">
                <a:solidFill>
                  <a:schemeClr val="bg1"/>
                </a:solidFill>
              </a:rPr>
              <a:t>,</a:t>
            </a:r>
            <a:r>
              <a:rPr lang="ru-RU" sz="1400" dirty="0" smtClean="0">
                <a:solidFill>
                  <a:schemeClr val="bg1"/>
                </a:solidFill>
              </a:rPr>
              <a:t> высокий уровень </a:t>
            </a:r>
            <a:r>
              <a:rPr lang="ru-RU" sz="1400" dirty="0">
                <a:solidFill>
                  <a:schemeClr val="bg1"/>
                </a:solidFill>
              </a:rPr>
              <a:t>спроса и </a:t>
            </a:r>
            <a:r>
              <a:rPr lang="ru-RU" sz="1400" dirty="0" smtClean="0">
                <a:solidFill>
                  <a:schemeClr val="bg1"/>
                </a:solidFill>
              </a:rPr>
              <a:t>огромное количество </a:t>
            </a:r>
            <a:r>
              <a:rPr lang="ru-RU" sz="1400" dirty="0">
                <a:solidFill>
                  <a:schemeClr val="bg1"/>
                </a:solidFill>
              </a:rPr>
              <a:t>пользователей. БД должна справляться с </a:t>
            </a:r>
            <a:r>
              <a:rPr lang="ru-RU" sz="1400" dirty="0" smtClean="0">
                <a:solidFill>
                  <a:schemeClr val="bg1"/>
                </a:solidFill>
              </a:rPr>
              <a:t>большой нагрузкой</a:t>
            </a:r>
            <a:endParaRPr lang="ru-RU" sz="1400" dirty="0">
              <a:solidFill>
                <a:schemeClr val="bg1"/>
              </a:solidFill>
            </a:endParaRPr>
          </a:p>
          <a:p>
            <a:pPr>
              <a:lnSpc>
                <a:spcPct val="170000"/>
              </a:lnSpc>
            </a:pPr>
            <a:r>
              <a:rPr lang="ru-RU" sz="1400" b="1" dirty="0">
                <a:solidFill>
                  <a:schemeClr val="bg1"/>
                </a:solidFill>
              </a:rPr>
              <a:t>Разнообразие контента и моделей:</a:t>
            </a:r>
            <a:r>
              <a:rPr lang="ru-RU" sz="1400" dirty="0">
                <a:solidFill>
                  <a:schemeClr val="bg1"/>
                </a:solidFill>
              </a:rPr>
              <a:t> </a:t>
            </a:r>
            <a:r>
              <a:rPr lang="ru-RU" sz="1400" dirty="0">
                <a:solidFill>
                  <a:schemeClr val="bg1"/>
                </a:solidFill>
              </a:rPr>
              <a:t>П</a:t>
            </a:r>
            <a:r>
              <a:rPr lang="ru-RU" sz="1400" dirty="0" smtClean="0">
                <a:solidFill>
                  <a:schemeClr val="bg1"/>
                </a:solidFill>
              </a:rPr>
              <a:t>рофобразование </a:t>
            </a:r>
            <a:r>
              <a:rPr lang="ru-RU" sz="1400" dirty="0">
                <a:solidFill>
                  <a:schemeClr val="bg1"/>
                </a:solidFill>
              </a:rPr>
              <a:t>(</a:t>
            </a:r>
            <a:r>
              <a:rPr lang="ru-RU" sz="1400" dirty="0" err="1">
                <a:solidFill>
                  <a:schemeClr val="bg1"/>
                </a:solidFill>
              </a:rPr>
              <a:t>Skillbox</a:t>
            </a:r>
            <a:r>
              <a:rPr lang="ru-RU" sz="1400" dirty="0">
                <a:solidFill>
                  <a:schemeClr val="bg1"/>
                </a:solidFill>
              </a:rPr>
              <a:t>, </a:t>
            </a:r>
            <a:r>
              <a:rPr lang="ru-RU" sz="1400" dirty="0" err="1" smtClean="0">
                <a:solidFill>
                  <a:schemeClr val="bg1"/>
                </a:solidFill>
              </a:rPr>
              <a:t>Нетология</a:t>
            </a:r>
            <a:r>
              <a:rPr lang="en-US" sz="1400" dirty="0" smtClean="0">
                <a:solidFill>
                  <a:schemeClr val="bg1"/>
                </a:solidFill>
              </a:rPr>
              <a:t>, Coursera, </a:t>
            </a:r>
            <a:r>
              <a:rPr lang="en-US" sz="1400" dirty="0" err="1" smtClean="0">
                <a:solidFill>
                  <a:schemeClr val="bg1"/>
                </a:solidFill>
              </a:rPr>
              <a:t>Stepik</a:t>
            </a:r>
            <a:r>
              <a:rPr lang="ru-RU" sz="1400" dirty="0" smtClean="0">
                <a:solidFill>
                  <a:schemeClr val="bg1"/>
                </a:solidFill>
              </a:rPr>
              <a:t>), </a:t>
            </a:r>
            <a:r>
              <a:rPr lang="ru-RU" sz="1400" dirty="0">
                <a:solidFill>
                  <a:schemeClr val="bg1"/>
                </a:solidFill>
              </a:rPr>
              <a:t>школьные предметы (</a:t>
            </a:r>
            <a:r>
              <a:rPr lang="ru-RU" sz="1400" dirty="0" err="1">
                <a:solidFill>
                  <a:schemeClr val="bg1"/>
                </a:solidFill>
              </a:rPr>
              <a:t>Инфоурок</a:t>
            </a:r>
            <a:r>
              <a:rPr lang="ru-RU" sz="1400" dirty="0">
                <a:solidFill>
                  <a:schemeClr val="bg1"/>
                </a:solidFill>
              </a:rPr>
              <a:t>, </a:t>
            </a:r>
            <a:r>
              <a:rPr lang="ru-RU" sz="1400" dirty="0" err="1">
                <a:solidFill>
                  <a:schemeClr val="bg1"/>
                </a:solidFill>
              </a:rPr>
              <a:t>Учи.ру</a:t>
            </a:r>
            <a:r>
              <a:rPr lang="ru-RU" sz="1400" dirty="0">
                <a:solidFill>
                  <a:schemeClr val="bg1"/>
                </a:solidFill>
              </a:rPr>
              <a:t>), языки (</a:t>
            </a:r>
            <a:r>
              <a:rPr lang="ru-RU" sz="1400" dirty="0" err="1">
                <a:solidFill>
                  <a:schemeClr val="bg1"/>
                </a:solidFill>
              </a:rPr>
              <a:t>Skyeng</a:t>
            </a:r>
            <a:r>
              <a:rPr lang="ru-RU" sz="1400" dirty="0">
                <a:solidFill>
                  <a:schemeClr val="bg1"/>
                </a:solidFill>
              </a:rPr>
              <a:t>), конструкторы курсов (</a:t>
            </a:r>
            <a:r>
              <a:rPr lang="ru-RU" sz="1400" dirty="0" err="1">
                <a:solidFill>
                  <a:schemeClr val="bg1"/>
                </a:solidFill>
              </a:rPr>
              <a:t>GetCourse</a:t>
            </a:r>
            <a:r>
              <a:rPr lang="ru-RU" sz="1400" dirty="0">
                <a:solidFill>
                  <a:schemeClr val="bg1"/>
                </a:solidFill>
              </a:rPr>
              <a:t>). БД должна гибко хранить </a:t>
            </a:r>
            <a:r>
              <a:rPr lang="ru-RU" sz="1400" dirty="0" smtClean="0">
                <a:solidFill>
                  <a:schemeClr val="bg1"/>
                </a:solidFill>
              </a:rPr>
              <a:t>данные </a:t>
            </a:r>
            <a:r>
              <a:rPr lang="ru-RU" sz="1400" dirty="0">
                <a:solidFill>
                  <a:schemeClr val="bg1"/>
                </a:solidFill>
              </a:rPr>
              <a:t>(курсы, уроки, тесты, видео, задания, </a:t>
            </a:r>
            <a:r>
              <a:rPr lang="ru-RU" sz="1400" dirty="0" smtClean="0">
                <a:solidFill>
                  <a:schemeClr val="bg1"/>
                </a:solidFill>
              </a:rPr>
              <a:t>профили)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3017520"/>
            <a:ext cx="10777728" cy="384048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>
              <a:lnSpc>
                <a:spcPct val="170000"/>
              </a:lnSpc>
            </a:pPr>
            <a:r>
              <a:rPr lang="ru-RU" sz="1400" b="1" dirty="0">
                <a:solidFill>
                  <a:schemeClr val="bg1"/>
                </a:solidFill>
              </a:rPr>
              <a:t>Динамичность среды</a:t>
            </a:r>
            <a:r>
              <a:rPr lang="ru-RU" sz="1200" b="1" dirty="0">
                <a:solidFill>
                  <a:schemeClr val="bg1"/>
                </a:solidFill>
              </a:rPr>
              <a:t>:</a:t>
            </a:r>
            <a:r>
              <a:rPr lang="ru-RU" sz="1200" dirty="0">
                <a:solidFill>
                  <a:schemeClr val="bg1"/>
                </a:solidFill>
              </a:rPr>
              <a:t> Высокая </a:t>
            </a:r>
            <a:r>
              <a:rPr lang="ru-RU" sz="1200" dirty="0" err="1">
                <a:solidFill>
                  <a:schemeClr val="bg1"/>
                </a:solidFill>
              </a:rPr>
              <a:t>соцмедиа</a:t>
            </a:r>
            <a:r>
              <a:rPr lang="ru-RU" sz="1200" dirty="0">
                <a:solidFill>
                  <a:schemeClr val="bg1"/>
                </a:solidFill>
              </a:rPr>
              <a:t>-активность отражает быстрые изменения: новые курсы, обновления, пользовательские взаимодействия (комментарии, прогресс, оценки). БД обязана обеспечивать мгновенную актуальность данных и быструю обработку транзакций</a:t>
            </a:r>
          </a:p>
          <a:p>
            <a:pPr>
              <a:lnSpc>
                <a:spcPct val="170000"/>
              </a:lnSpc>
            </a:pPr>
            <a:r>
              <a:rPr lang="ru-RU" sz="1400" b="1" dirty="0">
                <a:solidFill>
                  <a:schemeClr val="bg1"/>
                </a:solidFill>
              </a:rPr>
              <a:t>Конкурентная плотность</a:t>
            </a:r>
            <a:r>
              <a:rPr lang="ru-RU" sz="1200" b="1" dirty="0">
                <a:solidFill>
                  <a:schemeClr val="bg1"/>
                </a:solidFill>
              </a:rPr>
              <a:t>:</a:t>
            </a:r>
            <a:r>
              <a:rPr lang="ru-RU" sz="1200" dirty="0">
                <a:solidFill>
                  <a:schemeClr val="bg1"/>
                </a:solidFill>
              </a:rPr>
              <a:t> Наличие большого количества крупных игроков требует от платформы максимальной производительности и бесперебойной работы 24/7. Отказоустойчивость и скорость БД – ключевое конкурентное преимущество</a:t>
            </a:r>
          </a:p>
          <a:p>
            <a:pPr>
              <a:lnSpc>
                <a:spcPct val="170000"/>
              </a:lnSpc>
            </a:pPr>
            <a:r>
              <a:rPr lang="ru-RU" sz="1400" b="1" dirty="0">
                <a:solidFill>
                  <a:schemeClr val="bg1"/>
                </a:solidFill>
              </a:rPr>
              <a:t>Персонализация и аналитика</a:t>
            </a:r>
            <a:r>
              <a:rPr lang="ru-RU" sz="1200" b="1" dirty="0">
                <a:solidFill>
                  <a:schemeClr val="bg1"/>
                </a:solidFill>
              </a:rPr>
              <a:t>:</a:t>
            </a:r>
            <a:r>
              <a:rPr lang="ru-RU" sz="1200" dirty="0">
                <a:solidFill>
                  <a:schemeClr val="bg1"/>
                </a:solidFill>
              </a:rPr>
              <a:t> Удержание пользователя в условиях конкуренции требует персонализации (рекомендации курсов) и анализа успеваемости. БД должна позволять строить сложные запросы и агрегировать данные для аналитики</a:t>
            </a:r>
          </a:p>
          <a:p>
            <a:pPr>
              <a:lnSpc>
                <a:spcPct val="170000"/>
              </a:lnSpc>
            </a:pPr>
            <a:endParaRPr lang="ru-RU" sz="1100" dirty="0"/>
          </a:p>
          <a:p>
            <a:pPr rtl="0">
              <a:lnSpc>
                <a:spcPct val="170000"/>
              </a:lnSpc>
            </a:pP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2653"/>
            <a:ext cx="7218172" cy="535531"/>
          </a:xfrm>
        </p:spPr>
        <p:txBody>
          <a:bodyPr rtlCol="0"/>
          <a:lstStyle/>
          <a:p>
            <a:r>
              <a:rPr lang="ru" dirty="0"/>
              <a:t>Конкретизация предметной области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5</a:t>
            </a:fld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268224" y="1459893"/>
            <a:ext cx="6096000" cy="4693593"/>
          </a:xfrm>
          <a:prstGeom prst="rect">
            <a:avLst/>
          </a:prstGeom>
        </p:spPr>
        <p:txBody>
          <a:bodyPr>
            <a:spAutoFit/>
          </a:bodyPr>
          <a:lstStyle/>
          <a:p>
            <a:pPr marR="459740">
              <a:spcAft>
                <a:spcPts val="0"/>
              </a:spcAft>
              <a:tabLst>
                <a:tab pos="546735" algn="l"/>
              </a:tabLst>
            </a:pPr>
            <a:r>
              <a:rPr lang="ru-RU" sz="1600" dirty="0" smtClean="0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Основной функционал включает:</a:t>
            </a: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/>
            </a:r>
            <a:b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Segoe UI" panose="020B0502040204020203" pitchFamily="34" charset="0"/>
              </a:rPr>
            </a:br>
            <a:endParaRPr lang="ru-RU" sz="1600" dirty="0" smtClean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459740" lvl="3">
              <a:spcAft>
                <a:spcPts val="0"/>
              </a:spcAft>
              <a:tabLst>
                <a:tab pos="546735" algn="l"/>
              </a:tabLst>
            </a:pP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ru-RU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Создание и редактирование курсов преподавателями.</a:t>
            </a: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ru-RU" sz="1600" dirty="0" smtClean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ts val="1520"/>
              </a:lnSpc>
              <a:spcAft>
                <a:spcPts val="0"/>
              </a:spcAft>
              <a:tabLst>
                <a:tab pos="546735" algn="l"/>
              </a:tabLst>
            </a:pP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ru-RU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Прохождение уроков студентами с возможностью получения оценок.</a:t>
            </a: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ru-RU" sz="1600" dirty="0" smtClean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568325" lvl="3">
              <a:lnSpc>
                <a:spcPct val="100000"/>
              </a:lnSpc>
              <a:spcAft>
                <a:spcPts val="0"/>
              </a:spcAft>
              <a:tabLst>
                <a:tab pos="546735" algn="l"/>
              </a:tabLst>
            </a:pP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ru-RU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Систему достижений за выполнение учебных задач.</a:t>
            </a: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ru-RU" sz="1600" dirty="0" smtClean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ts val="1505"/>
              </a:lnSpc>
              <a:spcAft>
                <a:spcPts val="0"/>
              </a:spcAft>
              <a:tabLst>
                <a:tab pos="546735" algn="l"/>
              </a:tabLst>
            </a:pP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ru-RU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Использование </a:t>
            </a:r>
            <a:r>
              <a:rPr lang="ru-RU" sz="1600" dirty="0" err="1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промокодов</a:t>
            </a:r>
            <a:r>
              <a:rPr lang="ru-RU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для получения скидок или доступа к платным курсам</a:t>
            </a:r>
            <a:r>
              <a:rPr lang="ru-RU" sz="1600" spc="-2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600" spc="-2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spc="-2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ru-RU" sz="1600" dirty="0" smtClean="0">
              <a:solidFill>
                <a:schemeClr val="bg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795655" lvl="3">
              <a:lnSpc>
                <a:spcPct val="100000"/>
              </a:lnSpc>
              <a:spcAft>
                <a:spcPts val="0"/>
              </a:spcAft>
              <a:tabLst>
                <a:tab pos="546735" algn="l"/>
              </a:tabLst>
            </a:pP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ru-RU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Комментирование уроков для обсуждения  материала.</a:t>
            </a: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ru-RU" sz="1600" dirty="0" smtClean="0">
                <a:solidFill>
                  <a:schemeClr val="bg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Администрирование ролей пользователей (студенты, преподаватели, администраторы)</a:t>
            </a:r>
            <a:endParaRPr lang="ru-RU" sz="1600" dirty="0">
              <a:solidFill>
                <a:schemeClr val="bg1"/>
              </a:solidFill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631" y="1205143"/>
            <a:ext cx="4297968" cy="253243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800" y="3817855"/>
            <a:ext cx="4870200" cy="249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ru-RU" noProof="0" smtClean="0"/>
              <a:pPr rtl="0"/>
              <a:t>6</a:t>
            </a:fld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Основные сущности предметной области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Роли пользователей в образовательной платформе</a:t>
            </a:r>
            <a:r>
              <a:rPr lang="en-US" dirty="0" smtClean="0"/>
              <a:t>: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smtClean="0"/>
              <a:t>Пользователь</a:t>
            </a:r>
          </a:p>
          <a:p>
            <a:r>
              <a:rPr lang="ru-RU" dirty="0" smtClean="0"/>
              <a:t>Комментарий</a:t>
            </a:r>
          </a:p>
          <a:p>
            <a:r>
              <a:rPr lang="ru-RU" dirty="0" smtClean="0"/>
              <a:t>Курс</a:t>
            </a:r>
          </a:p>
          <a:p>
            <a:r>
              <a:rPr lang="ru-RU" dirty="0" smtClean="0"/>
              <a:t>Урок</a:t>
            </a:r>
          </a:p>
          <a:p>
            <a:r>
              <a:rPr lang="ru-RU" dirty="0" smtClean="0"/>
              <a:t>Степ</a:t>
            </a:r>
          </a:p>
          <a:p>
            <a:r>
              <a:rPr lang="ru-RU" dirty="0" smtClean="0"/>
              <a:t>Вложения</a:t>
            </a:r>
          </a:p>
          <a:p>
            <a:r>
              <a:rPr lang="ru-RU" dirty="0" smtClean="0"/>
              <a:t>Оценка</a:t>
            </a:r>
          </a:p>
          <a:p>
            <a:r>
              <a:rPr lang="ru-RU" dirty="0" smtClean="0"/>
              <a:t>Достижения</a:t>
            </a:r>
          </a:p>
          <a:p>
            <a:r>
              <a:rPr lang="ru-RU" dirty="0" smtClean="0"/>
              <a:t>Акция</a:t>
            </a:r>
          </a:p>
          <a:p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 smtClean="0"/>
              <a:t>Студент </a:t>
            </a:r>
            <a:r>
              <a:rPr lang="ru-RU" dirty="0"/>
              <a:t>— регистрируется, записывается на курсы, сдаёт решения, получает сертификаты.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Автор </a:t>
            </a:r>
            <a:r>
              <a:rPr lang="ru-RU" dirty="0"/>
              <a:t>— создаёт и редактирует курсы, анализирует статистику, проверяет задания.</a:t>
            </a:r>
          </a:p>
          <a:p>
            <a:pPr>
              <a:lnSpc>
                <a:spcPct val="150000"/>
              </a:lnSpc>
            </a:pPr>
            <a:r>
              <a:rPr lang="ru-RU" dirty="0" smtClean="0"/>
              <a:t>Администратор </a:t>
            </a:r>
            <a:r>
              <a:rPr lang="ru-RU" dirty="0"/>
              <a:t>— </a:t>
            </a:r>
            <a:r>
              <a:rPr lang="ru-RU" dirty="0" err="1"/>
              <a:t>модерирует</a:t>
            </a:r>
            <a:r>
              <a:rPr lang="ru-RU" dirty="0"/>
              <a:t> контент, управляет ролями, ведёт платные подписки.</a:t>
            </a:r>
          </a:p>
          <a:p>
            <a:endParaRPr lang="ru-RU" dirty="0"/>
          </a:p>
        </p:txBody>
      </p: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 txBox="1">
            <a:spLocks/>
          </p:cNvSpPr>
          <p:nvPr/>
        </p:nvSpPr>
        <p:spPr>
          <a:xfrm>
            <a:off x="0" y="652653"/>
            <a:ext cx="7218172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" dirty="0" smtClean="0"/>
              <a:t>Конкретизация предметной области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5338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116" y="372614"/>
            <a:ext cx="2347468" cy="840230"/>
          </a:xfrm>
        </p:spPr>
        <p:txBody>
          <a:bodyPr rtlCol="0"/>
          <a:lstStyle/>
          <a:p>
            <a:pPr rtl="0"/>
            <a:r>
              <a:rPr lang="ru-RU" sz="5400" dirty="0" smtClean="0"/>
              <a:t>КМБД</a:t>
            </a:r>
            <a:endParaRPr lang="ru-RU" sz="54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7</a:t>
            </a:fld>
            <a:endParaRPr lang="ru-RU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1358900"/>
            <a:ext cx="5445754" cy="549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8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Логическое проектирование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33" y="1622103"/>
            <a:ext cx="10336067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" dirty="0"/>
              <a:t>Физическая модель БД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9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608" y="1354568"/>
            <a:ext cx="7993784" cy="543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" dirty="0"/>
              <a:t>Физическое проектирование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10</a:t>
            </a:fld>
            <a:endParaRPr lang="ru-RU"/>
          </a:p>
        </p:txBody>
      </p:sp>
      <p:pic>
        <p:nvPicPr>
          <p:cNvPr id="7" name="Google Shape;3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102" y="1219827"/>
            <a:ext cx="3339696" cy="228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7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6398" y="1434053"/>
            <a:ext cx="1802127" cy="185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998" y="3900862"/>
            <a:ext cx="1831904" cy="105313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055" y="1500643"/>
            <a:ext cx="2106946" cy="4449399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8505" y="3900862"/>
            <a:ext cx="1217911" cy="112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03275"/>
            <a:ext cx="11214100" cy="535531"/>
          </a:xfrm>
        </p:spPr>
        <p:txBody>
          <a:bodyPr rtlCol="0"/>
          <a:lstStyle/>
          <a:p>
            <a:r>
              <a:rPr lang="ru" dirty="0" smtClean="0"/>
              <a:t>Заполнение таблиц и </a:t>
            </a:r>
            <a:r>
              <a:rPr lang="en-US" dirty="0" smtClean="0"/>
              <a:t>ETL </a:t>
            </a:r>
            <a:r>
              <a:rPr lang="ru-RU" dirty="0" smtClean="0"/>
              <a:t>процессы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263D6C4-4840-40CC-AC84-17E24B3B7BDE}" type="slidenum">
              <a:rPr lang="ru-RU" smtClean="0"/>
              <a:pPr rtl="0"/>
              <a:t>11</a:t>
            </a:fld>
            <a:endParaRPr lang="ru-RU" dirty="0"/>
          </a:p>
        </p:txBody>
      </p:sp>
      <p:sp>
        <p:nvSpPr>
          <p:cNvPr id="9" name="Google Shape;212;p34"/>
          <p:cNvSpPr txBox="1">
            <a:spLocks/>
          </p:cNvSpPr>
          <p:nvPr/>
        </p:nvSpPr>
        <p:spPr>
          <a:xfrm>
            <a:off x="394250" y="1642225"/>
            <a:ext cx="5422350" cy="4542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В качестве ETL процесса использовалась </a:t>
            </a:r>
            <a:r>
              <a:rPr lang="ru-RU" sz="2000" dirty="0" err="1" smtClean="0">
                <a:solidFill>
                  <a:schemeClr val="bg1"/>
                </a:solidFill>
              </a:rPr>
              <a:t>автогенерация</a:t>
            </a:r>
            <a:r>
              <a:rPr lang="ru-RU" sz="2000" dirty="0" smtClean="0">
                <a:solidFill>
                  <a:schemeClr val="bg1"/>
                </a:solidFill>
              </a:rPr>
              <a:t> данных с помощью языка </a:t>
            </a:r>
            <a:r>
              <a:rPr lang="ru-RU" sz="2000" dirty="0" err="1" smtClean="0">
                <a:solidFill>
                  <a:schemeClr val="bg1"/>
                </a:solidFill>
              </a:rPr>
              <a:t>Python</a:t>
            </a:r>
            <a:r>
              <a:rPr lang="ru-RU" sz="2000" dirty="0" smtClean="0">
                <a:solidFill>
                  <a:schemeClr val="bg1"/>
                </a:solidFill>
              </a:rPr>
              <a:t>. Для этого была использована библиотека генерации шаблонных данных </a:t>
            </a:r>
            <a:r>
              <a:rPr lang="ru-RU" sz="2000" dirty="0" err="1" smtClean="0">
                <a:solidFill>
                  <a:schemeClr val="bg1"/>
                </a:solidFill>
              </a:rPr>
              <a:t>Faker</a:t>
            </a:r>
            <a:r>
              <a:rPr lang="ru-RU" sz="2000" dirty="0" smtClean="0">
                <a:solidFill>
                  <a:schemeClr val="bg1"/>
                </a:solidFill>
              </a:rPr>
              <a:t>. </a:t>
            </a:r>
            <a:r>
              <a:rPr lang="ru-RU" sz="2000" dirty="0">
                <a:solidFill>
                  <a:srgbClr val="FFFFFF"/>
                </a:solidFill>
              </a:rPr>
              <a:t>Заполнение таблиц, реализующих тип связи «Многие ко многим» производилось на основании уже внесенной информации произвольным образом.</a:t>
            </a:r>
          </a:p>
          <a:p>
            <a:pPr marL="0" indent="457200" algn="just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7" y="1399020"/>
            <a:ext cx="4515603" cy="538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806590"/>
            <a:ext cx="11214100" cy="535531"/>
          </a:xfrm>
        </p:spPr>
        <p:txBody>
          <a:bodyPr/>
          <a:lstStyle/>
          <a:p>
            <a:r>
              <a:rPr lang="ru-RU" dirty="0" smtClean="0"/>
              <a:t>Заполнение таблиц и </a:t>
            </a:r>
            <a:r>
              <a:rPr lang="en-US" dirty="0" smtClean="0"/>
              <a:t>ETL </a:t>
            </a:r>
            <a:r>
              <a:rPr lang="ru-RU" dirty="0" smtClean="0"/>
              <a:t>процессы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ru-RU" noProof="0" smtClean="0"/>
              <a:pPr rtl="0"/>
              <a:t>12</a:t>
            </a:fld>
            <a:endParaRPr lang="ru-RU" noProof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2121"/>
            <a:ext cx="5058581" cy="235464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521" y="4366777"/>
            <a:ext cx="7149879" cy="2491223"/>
          </a:xfrm>
          <a:prstGeom prst="rect">
            <a:avLst/>
          </a:prstGeom>
        </p:spPr>
      </p:pic>
      <p:sp>
        <p:nvSpPr>
          <p:cNvPr id="7" name="Google Shape;212;p34"/>
          <p:cNvSpPr txBox="1">
            <a:spLocks/>
          </p:cNvSpPr>
          <p:nvPr/>
        </p:nvSpPr>
        <p:spPr>
          <a:xfrm>
            <a:off x="5058581" y="1477520"/>
            <a:ext cx="6828619" cy="1069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-  Пример содержания таблицы     Пользователь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5250" y="4966057"/>
            <a:ext cx="35813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r">
              <a:spcAft>
                <a:spcPts val="1200"/>
              </a:spcAft>
            </a:pPr>
            <a:r>
              <a:rPr lang="ru-RU" sz="2000" dirty="0" smtClean="0">
                <a:solidFill>
                  <a:schemeClr val="bg1"/>
                </a:solidFill>
              </a:rPr>
              <a:t>Пример содержания таблицы Курс - 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970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Запросы в терминах </a:t>
            </a:r>
            <a:r>
              <a:rPr lang="en-US" dirty="0" smtClean="0"/>
              <a:t>SQL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ru-RU" noProof="0" smtClean="0"/>
              <a:pPr rtl="0"/>
              <a:t>13</a:t>
            </a:fld>
            <a:endParaRPr lang="ru-RU" noProof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552"/>
            <a:ext cx="3477001" cy="48512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661" y="1343552"/>
            <a:ext cx="2252889" cy="48512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749" y="1343552"/>
            <a:ext cx="5434601" cy="485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88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4850" y="479425"/>
            <a:ext cx="11214100" cy="535531"/>
          </a:xfrm>
        </p:spPr>
        <p:txBody>
          <a:bodyPr/>
          <a:lstStyle/>
          <a:p>
            <a:r>
              <a:rPr lang="ru-RU" dirty="0" smtClean="0"/>
              <a:t>Визуализация данных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ru-RU" noProof="0" smtClean="0"/>
              <a:pPr rtl="0"/>
              <a:t>14</a:t>
            </a:fld>
            <a:endParaRPr lang="ru-RU" noProof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261" y="4858362"/>
            <a:ext cx="5797550" cy="117742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924" y="1523582"/>
            <a:ext cx="3071773" cy="300889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629" y="1569839"/>
            <a:ext cx="3215674" cy="291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62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Оценка размеров БД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C263D6C4-4840-40CC-AC84-17E24B3B7BDE}" type="slidenum">
              <a:rPr lang="ru-RU" noProof="0" smtClean="0"/>
              <a:pPr rtl="0"/>
              <a:t>15</a:t>
            </a:fld>
            <a:endParaRPr lang="ru-RU" noProof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35" y="1148538"/>
            <a:ext cx="3769177" cy="529143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170" y="1986180"/>
            <a:ext cx="6190174" cy="1956063"/>
          </a:xfrm>
          <a:prstGeom prst="rect">
            <a:avLst/>
          </a:prstGeom>
        </p:spPr>
      </p:pic>
      <p:sp>
        <p:nvSpPr>
          <p:cNvPr id="6" name="Google Shape;256;p40"/>
          <p:cNvSpPr txBox="1">
            <a:spLocks/>
          </p:cNvSpPr>
          <p:nvPr/>
        </p:nvSpPr>
        <p:spPr>
          <a:xfrm>
            <a:off x="4872400" y="4324927"/>
            <a:ext cx="5198192" cy="15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ru-RU" dirty="0">
                <a:solidFill>
                  <a:schemeClr val="bg1"/>
                </a:solidFill>
              </a:rPr>
              <a:t>Средний размер базы данных 20 008 290 байт, т.е. примерно 19.1 МБ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85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rtlCol="0"/>
          <a:lstStyle/>
          <a:p>
            <a:pPr algn="ctr" rtl="0"/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Тема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666_TF66687569" id="{8088A86A-5DE3-4754-A836-2A3C30D038B3}" vid="{7A96DF9F-A41C-4EE8-8C3F-8182B482B13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992231-163D-4428-A2B8-DA1FE0274129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microsoft.com/office/2006/documentManagement/types"/>
    <ds:schemaRef ds:uri="6dc4bcd6-49db-4c07-9060-8acfc67cef9f"/>
    <ds:schemaRef ds:uri="http://purl.org/dc/dcmitype/"/>
    <ds:schemaRef ds:uri="http://schemas.microsoft.com/office/infopath/2007/PartnerControls"/>
    <ds:schemaRef ds:uri="http://purl.org/dc/elements/1.1/"/>
    <ds:schemaRef ds:uri="fb0879af-3eba-417a-a55a-ffe6dcd6ca77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(синее оформление)</Template>
  <TotalTime>0</TotalTime>
  <Words>466</Words>
  <Application>Microsoft Office PowerPoint</Application>
  <PresentationFormat>Широкоэкранный</PresentationFormat>
  <Paragraphs>71</Paragraphs>
  <Slides>16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Segoe UI</vt:lpstr>
      <vt:lpstr>Tahoma</vt:lpstr>
      <vt:lpstr>Times New Roman</vt:lpstr>
      <vt:lpstr>Trade Gothic LT Pro</vt:lpstr>
      <vt:lpstr>Trebuchet MS</vt:lpstr>
      <vt:lpstr>Тема Office</vt:lpstr>
      <vt:lpstr>База данных образовательной онлайн-платформы</vt:lpstr>
      <vt:lpstr>Постановка задачи</vt:lpstr>
      <vt:lpstr>Актуальность</vt:lpstr>
      <vt:lpstr>Презентация PowerPoint</vt:lpstr>
      <vt:lpstr>Конкретизация предметной области</vt:lpstr>
      <vt:lpstr>Презентация PowerPoint</vt:lpstr>
      <vt:lpstr>КМБД</vt:lpstr>
      <vt:lpstr>Логическое проектирование</vt:lpstr>
      <vt:lpstr>Физическая модель БД</vt:lpstr>
      <vt:lpstr>Физическое проектирование</vt:lpstr>
      <vt:lpstr>Заполнение таблиц и ETL процессы</vt:lpstr>
      <vt:lpstr>Заполнение таблиц и ETL процессы</vt:lpstr>
      <vt:lpstr>Запросы в терминах SQL</vt:lpstr>
      <vt:lpstr>Визуализация данных</vt:lpstr>
      <vt:lpstr>Оценка размеров БД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2025-06-04T09:22:45Z</dcterms:created>
  <dcterms:modified xsi:type="dcterms:W3CDTF">2025-06-04T15:27:19Z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